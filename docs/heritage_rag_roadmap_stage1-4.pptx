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280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HERITAGE-RAG-AGENT · 확장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417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RAG: 문서를 찾아 근거와 함께 답하기</a:t>
            </a:r>
          </a:p>
        </p:txBody>
      </p:sp>
      <p:sp>
        <p:nvSpPr>
          <p:cNvPr id="4" name="Stage pill"/>
          <p:cNvSpPr/>
          <p:nvPr/>
        </p:nvSpPr>
        <p:spPr>
          <a:xfrm>
            <a:off x="15179040" y="566928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ge pill text"/>
          <p:cNvSpPr txBox="1"/>
          <p:nvPr/>
        </p:nvSpPr>
        <p:spPr>
          <a:xfrm>
            <a:off x="15179040" y="566928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Band A"/>
          <p:cNvSpPr/>
          <p:nvPr/>
        </p:nvSpPr>
        <p:spPr>
          <a:xfrm>
            <a:off x="731520" y="1874519"/>
            <a:ext cx="168249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E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nd A title"/>
          <p:cNvSpPr txBox="1"/>
          <p:nvPr/>
        </p:nvSpPr>
        <p:spPr>
          <a:xfrm>
            <a:off x="1188720" y="2130552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준비 단계: 검색할 수 있는 문서 만들기</a:t>
            </a:r>
          </a:p>
        </p:txBody>
      </p:sp>
      <p:sp>
        <p:nvSpPr>
          <p:cNvPr id="8" name="Collect"/>
          <p:cNvSpPr/>
          <p:nvPr/>
        </p:nvSpPr>
        <p:spPr>
          <a:xfrm>
            <a:off x="1188720" y="278892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llect text"/>
          <p:cNvSpPr txBox="1"/>
          <p:nvPr/>
        </p:nvSpPr>
        <p:spPr>
          <a:xfrm>
            <a:off x="1298448" y="278892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데이터 수집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궁궐·종묘 API 127건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국가유산 종합 API 24건 (왕릉·경희궁·개요)</a:t>
            </a:r>
          </a:p>
        </p:txBody>
      </p:sp>
      <p:sp>
        <p:nvSpPr>
          <p:cNvPr id="10" name="Clean"/>
          <p:cNvSpPr/>
          <p:nvPr/>
        </p:nvSpPr>
        <p:spPr>
          <a:xfrm>
            <a:off x="6858000" y="278892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ean text"/>
          <p:cNvSpPr txBox="1"/>
          <p:nvPr/>
        </p:nvSpPr>
        <p:spPr>
          <a:xfrm>
            <a:off x="6967728" y="278892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정리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HTML 태그 제거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검색용 본문(document_text) 만들기</a:t>
            </a:r>
          </a:p>
        </p:txBody>
      </p:sp>
      <p:sp>
        <p:nvSpPr>
          <p:cNvPr id="12" name="Embed"/>
          <p:cNvSpPr/>
          <p:nvPr/>
        </p:nvSpPr>
        <p:spPr>
          <a:xfrm>
            <a:off x="12527280" y="278892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mbed text"/>
          <p:cNvSpPr txBox="1"/>
          <p:nvPr/>
        </p:nvSpPr>
        <p:spPr>
          <a:xfrm>
            <a:off x="12637008" y="278892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임베딩 → 벡터 DB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Gemini 임베딩 (768차원)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PostgreSQL + pgvector에 저장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3520439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0" y="3520439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and B"/>
          <p:cNvSpPr/>
          <p:nvPr/>
        </p:nvSpPr>
        <p:spPr>
          <a:xfrm>
            <a:off x="731520" y="4800600"/>
            <a:ext cx="168249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E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nd B title"/>
          <p:cNvSpPr txBox="1"/>
          <p:nvPr/>
        </p:nvSpPr>
        <p:spPr>
          <a:xfrm>
            <a:off x="1188720" y="5056632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질문 단계: 답변 만들기 (FastAPI)</a:t>
            </a:r>
          </a:p>
        </p:txBody>
      </p:sp>
      <p:sp>
        <p:nvSpPr>
          <p:cNvPr id="18" name="Q1"/>
          <p:cNvSpPr/>
          <p:nvPr/>
        </p:nvSpPr>
        <p:spPr>
          <a:xfrm>
            <a:off x="1188720" y="571500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Q1 text"/>
          <p:cNvSpPr txBox="1"/>
          <p:nvPr/>
        </p:nvSpPr>
        <p:spPr>
          <a:xfrm>
            <a:off x="1298448" y="571500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사용자 질문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React + TypeScript 화면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예: 근정전이 뭐야?</a:t>
            </a:r>
          </a:p>
        </p:txBody>
      </p:sp>
      <p:sp>
        <p:nvSpPr>
          <p:cNvPr id="20" name="Search1"/>
          <p:cNvSpPr/>
          <p:nvPr/>
        </p:nvSpPr>
        <p:spPr>
          <a:xfrm>
            <a:off x="6858000" y="571500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earch1 text"/>
          <p:cNvSpPr txBox="1"/>
          <p:nvPr/>
        </p:nvSpPr>
        <p:spPr>
          <a:xfrm>
            <a:off x="6967728" y="571500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관련 문서 검색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질문을 벡터로 바꿔서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비슷한 문서 상위 5개 찾기</a:t>
            </a:r>
          </a:p>
        </p:txBody>
      </p:sp>
      <p:sp>
        <p:nvSpPr>
          <p:cNvPr id="22" name="LLM1"/>
          <p:cNvSpPr/>
          <p:nvPr/>
        </p:nvSpPr>
        <p:spPr>
          <a:xfrm>
            <a:off x="12527280" y="571500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LM1 text"/>
          <p:cNvSpPr txBox="1"/>
          <p:nvPr/>
        </p:nvSpPr>
        <p:spPr>
          <a:xfrm>
            <a:off x="12637008" y="571500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LLM 답변 생성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자료에 있는 내용만으로 답변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출처 카드와 함께 표시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60720" y="6446520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430000" y="6446520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813280" y="4251960"/>
            <a:ext cx="0" cy="411480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144000" y="4663440"/>
            <a:ext cx="5669280" cy="0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4663440"/>
            <a:ext cx="0" cy="1033272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and C"/>
          <p:cNvSpPr/>
          <p:nvPr/>
        </p:nvSpPr>
        <p:spPr>
          <a:xfrm>
            <a:off x="731520" y="7680960"/>
            <a:ext cx="1682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E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tus 1"/>
          <p:cNvSpPr/>
          <p:nvPr/>
        </p:nvSpPr>
        <p:spPr>
          <a:xfrm>
            <a:off x="1188720" y="7909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tus text 1"/>
          <p:cNvSpPr txBox="1"/>
          <p:nvPr/>
        </p:nvSpPr>
        <p:spPr>
          <a:xfrm>
            <a:off x="1463040" y="7909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동작 확인 완료</a:t>
            </a:r>
          </a:p>
          <a:p>
            <a:pPr algn="l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백엔드 + 화면: 질문 → 답변 → 출처</a:t>
            </a:r>
          </a:p>
        </p:txBody>
      </p:sp>
      <p:sp>
        <p:nvSpPr>
          <p:cNvPr id="32" name="Status 2"/>
          <p:cNvSpPr/>
          <p:nvPr/>
        </p:nvSpPr>
        <p:spPr>
          <a:xfrm>
            <a:off x="6583679" y="7909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tus text 2"/>
          <p:cNvSpPr txBox="1"/>
          <p:nvPr/>
        </p:nvSpPr>
        <p:spPr>
          <a:xfrm>
            <a:off x="6857999" y="7909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평가 결과</a:t>
            </a:r>
          </a:p>
          <a:p>
            <a:pPr algn="l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정답 출처 15/15 · 환각 거절 6/6</a:t>
            </a:r>
          </a:p>
        </p:txBody>
      </p:sp>
      <p:sp>
        <p:nvSpPr>
          <p:cNvPr id="34" name="Status 3"/>
          <p:cNvSpPr/>
          <p:nvPr/>
        </p:nvSpPr>
        <p:spPr>
          <a:xfrm>
            <a:off x="11978640" y="7909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5C61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tus text 3"/>
          <p:cNvSpPr txBox="1"/>
          <p:nvPr/>
        </p:nvSpPr>
        <p:spPr>
          <a:xfrm>
            <a:off x="12252960" y="7909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남은 일</a:t>
            </a:r>
          </a:p>
          <a:p>
            <a:pPr algn="l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경희궁 · 왕릉 데이터 보강</a:t>
            </a:r>
          </a:p>
        </p:txBody>
      </p:sp>
      <p:sp>
        <p:nvSpPr>
          <p:cNvPr id="36" name="Roadmap 1"/>
          <p:cNvSpPr/>
          <p:nvPr/>
        </p:nvSpPr>
        <p:spPr>
          <a:xfrm>
            <a:off x="731520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1단계 · RAG 질의응답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17720" y="9624059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admap 2"/>
          <p:cNvSpPr/>
          <p:nvPr/>
        </p:nvSpPr>
        <p:spPr>
          <a:xfrm>
            <a:off x="5059679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BBD4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9679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2단계 · Agent 도구 선택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45880" y="9624059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admap 3"/>
          <p:cNvSpPr/>
          <p:nvPr/>
        </p:nvSpPr>
        <p:spPr>
          <a:xfrm>
            <a:off x="9387840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BBD4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87840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3단계 · 관계 탐색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3274040" y="9624059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admap 4"/>
          <p:cNvSpPr/>
          <p:nvPr/>
        </p:nvSpPr>
        <p:spPr>
          <a:xfrm>
            <a:off x="13715999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BBD4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5999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4단계 · 멀티모달 검색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280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HERITAGE-RAG-AGENT · 확장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417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Agent: 질문에 맞는 도구 고르기</a:t>
            </a:r>
          </a:p>
        </p:txBody>
      </p:sp>
      <p:sp>
        <p:nvSpPr>
          <p:cNvPr id="4" name="Stage pill"/>
          <p:cNvSpPr/>
          <p:nvPr/>
        </p:nvSpPr>
        <p:spPr>
          <a:xfrm>
            <a:off x="15179040" y="566928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ge pill text"/>
          <p:cNvSpPr txBox="1"/>
          <p:nvPr/>
        </p:nvSpPr>
        <p:spPr>
          <a:xfrm>
            <a:off x="15179040" y="566928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Band A"/>
          <p:cNvSpPr/>
          <p:nvPr/>
        </p:nvSpPr>
        <p:spPr>
          <a:xfrm>
            <a:off x="731520" y="1874519"/>
            <a:ext cx="1682496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E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nd A title"/>
          <p:cNvSpPr txBox="1"/>
          <p:nvPr/>
        </p:nvSpPr>
        <p:spPr>
          <a:xfrm>
            <a:off x="1188720" y="2130552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AI Agent가 질문을 보고 알맞은 도구를 골라 써요</a:t>
            </a:r>
          </a:p>
        </p:txBody>
      </p:sp>
      <p:sp>
        <p:nvSpPr>
          <p:cNvPr id="8" name="Q"/>
          <p:cNvSpPr/>
          <p:nvPr/>
        </p:nvSpPr>
        <p:spPr>
          <a:xfrm>
            <a:off x="1188720" y="3694176"/>
            <a:ext cx="3108960" cy="1426464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 text"/>
          <p:cNvSpPr txBox="1"/>
          <p:nvPr/>
        </p:nvSpPr>
        <p:spPr>
          <a:xfrm>
            <a:off x="1298448" y="3694176"/>
            <a:ext cx="2889504" cy="1426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사용자 질문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예: 근정전이 뭐야?</a:t>
            </a:r>
          </a:p>
        </p:txBody>
      </p:sp>
      <p:sp>
        <p:nvSpPr>
          <p:cNvPr id="10" name="Agent"/>
          <p:cNvSpPr/>
          <p:nvPr/>
        </p:nvSpPr>
        <p:spPr>
          <a:xfrm>
            <a:off x="5394960" y="3694176"/>
            <a:ext cx="3108960" cy="1426464"/>
          </a:xfrm>
          <a:prstGeom prst="roundRect">
            <a:avLst>
              <a:gd name="adj" fmla="val 8000"/>
            </a:avLst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 text"/>
          <p:cNvSpPr txBox="1"/>
          <p:nvPr/>
        </p:nvSpPr>
        <p:spPr>
          <a:xfrm>
            <a:off x="5504688" y="3694176"/>
            <a:ext cx="2889504" cy="1426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Agent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질문 종류를 판단하고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도구를 골라 호출</a:t>
            </a:r>
          </a:p>
        </p:txBody>
      </p:sp>
      <p:sp>
        <p:nvSpPr>
          <p:cNvPr id="12" name="Tool DB"/>
          <p:cNvSpPr/>
          <p:nvPr/>
        </p:nvSpPr>
        <p:spPr>
          <a:xfrm>
            <a:off x="9601200" y="2880360"/>
            <a:ext cx="3108960" cy="896112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ool DB text"/>
          <p:cNvSpPr txBox="1"/>
          <p:nvPr/>
        </p:nvSpPr>
        <p:spPr>
          <a:xfrm>
            <a:off x="9710928" y="2880360"/>
            <a:ext cx="288950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DB 조회 (SQL)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정확한 값: 개수 · 지정일 · 소재지</a:t>
            </a:r>
          </a:p>
        </p:txBody>
      </p:sp>
      <p:sp>
        <p:nvSpPr>
          <p:cNvPr id="14" name="Tool RAG"/>
          <p:cNvSpPr/>
          <p:nvPr/>
        </p:nvSpPr>
        <p:spPr>
          <a:xfrm>
            <a:off x="9601200" y="3959352"/>
            <a:ext cx="3108960" cy="896112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ool RAG text"/>
          <p:cNvSpPr txBox="1"/>
          <p:nvPr/>
        </p:nvSpPr>
        <p:spPr>
          <a:xfrm>
            <a:off x="9710928" y="3959352"/>
            <a:ext cx="288950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문서 검색 (벡터)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설명형 질문 · 1단계 RAG</a:t>
            </a:r>
          </a:p>
        </p:txBody>
      </p:sp>
      <p:sp>
        <p:nvSpPr>
          <p:cNvPr id="16" name="Tool Rel"/>
          <p:cNvSpPr/>
          <p:nvPr/>
        </p:nvSpPr>
        <p:spPr>
          <a:xfrm>
            <a:off x="9601200" y="5038344"/>
            <a:ext cx="31089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5C61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ool Rel text"/>
          <p:cNvSpPr txBox="1"/>
          <p:nvPr/>
        </p:nvSpPr>
        <p:spPr>
          <a:xfrm>
            <a:off x="9710928" y="5038344"/>
            <a:ext cx="288950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관계 검색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3단계에서 연결 (예정)</a:t>
            </a:r>
          </a:p>
        </p:txBody>
      </p:sp>
      <p:sp>
        <p:nvSpPr>
          <p:cNvPr id="18" name="Merge"/>
          <p:cNvSpPr/>
          <p:nvPr/>
        </p:nvSpPr>
        <p:spPr>
          <a:xfrm>
            <a:off x="13807440" y="3694176"/>
            <a:ext cx="3108960" cy="1426464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erge text"/>
          <p:cNvSpPr txBox="1"/>
          <p:nvPr/>
        </p:nvSpPr>
        <p:spPr>
          <a:xfrm>
            <a:off x="13917167" y="3694176"/>
            <a:ext cx="2889504" cy="1426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정보 통합 + 답변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도구 결과를 모아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출처와 함께 답변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0" y="4407408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03920" y="4407408"/>
            <a:ext cx="502920" cy="0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06840" y="3328415"/>
            <a:ext cx="0" cy="2157985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06840" y="3328415"/>
            <a:ext cx="57607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06840" y="4407408"/>
            <a:ext cx="57607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06840" y="5486400"/>
            <a:ext cx="57607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710160" y="3328415"/>
            <a:ext cx="502920" cy="0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710160" y="4407408"/>
            <a:ext cx="502920" cy="0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710160" y="5486400"/>
            <a:ext cx="502920" cy="0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3213080" y="3328415"/>
            <a:ext cx="0" cy="2157985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213080" y="4407408"/>
            <a:ext cx="57607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Band B"/>
          <p:cNvSpPr/>
          <p:nvPr/>
        </p:nvSpPr>
        <p:spPr>
          <a:xfrm>
            <a:off x="731520" y="6355080"/>
            <a:ext cx="1682496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E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and B title"/>
          <p:cNvSpPr txBox="1"/>
          <p:nvPr/>
        </p:nvSpPr>
        <p:spPr>
          <a:xfrm>
            <a:off x="1188720" y="6611112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어떤 질문에 어떤 도구를 쓸까?</a:t>
            </a:r>
          </a:p>
        </p:txBody>
      </p:sp>
      <p:sp>
        <p:nvSpPr>
          <p:cNvPr id="33" name="Example 1"/>
          <p:cNvSpPr/>
          <p:nvPr/>
        </p:nvSpPr>
        <p:spPr>
          <a:xfrm>
            <a:off x="1188720" y="726948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xample text 1"/>
          <p:cNvSpPr txBox="1"/>
          <p:nvPr/>
        </p:nvSpPr>
        <p:spPr>
          <a:xfrm>
            <a:off x="1463040" y="740664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경복궁 건물이 모두 몇 개야?</a:t>
            </a:r>
          </a:p>
          <a:p>
            <a:pPr algn="l">
              <a:spcBef>
                <a:spcPts val="6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→ DB 조회: 개수는 문서 검색보다 정확</a:t>
            </a:r>
          </a:p>
        </p:txBody>
      </p:sp>
      <p:sp>
        <p:nvSpPr>
          <p:cNvPr id="35" name="Example 2"/>
          <p:cNvSpPr/>
          <p:nvPr/>
        </p:nvSpPr>
        <p:spPr>
          <a:xfrm>
            <a:off x="6583679" y="726948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xample text 2"/>
          <p:cNvSpPr txBox="1"/>
          <p:nvPr/>
        </p:nvSpPr>
        <p:spPr>
          <a:xfrm>
            <a:off x="6857999" y="740664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근정전이 뭐야?</a:t>
            </a:r>
          </a:p>
          <a:p>
            <a:pPr algn="l">
              <a:spcBef>
                <a:spcPts val="6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→ 문서 검색: 설명글에서 의미로 찾기</a:t>
            </a:r>
          </a:p>
        </p:txBody>
      </p:sp>
      <p:sp>
        <p:nvSpPr>
          <p:cNvPr id="37" name="Example 3"/>
          <p:cNvSpPr/>
          <p:nvPr/>
        </p:nvSpPr>
        <p:spPr>
          <a:xfrm>
            <a:off x="11978640" y="726948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5C61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ample text 3"/>
          <p:cNvSpPr txBox="1"/>
          <p:nvPr/>
        </p:nvSpPr>
        <p:spPr>
          <a:xfrm>
            <a:off x="12252960" y="740664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세종과 이어진 유산은?</a:t>
            </a:r>
          </a:p>
          <a:p>
            <a:pPr algn="l">
              <a:spcBef>
                <a:spcPts val="6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→ 관계 검색 (3단계 이후)</a:t>
            </a:r>
          </a:p>
        </p:txBody>
      </p:sp>
      <p:sp>
        <p:nvSpPr>
          <p:cNvPr id="39" name="Note"/>
          <p:cNvSpPr txBox="1"/>
          <p:nvPr/>
        </p:nvSpPr>
        <p:spPr>
          <a:xfrm>
            <a:off x="731520" y="8887968"/>
            <a:ext cx="1682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구현 메모: 평가 질문 20~30개로 "도구를 제대로 골랐는지" 확인 · LangChain / LangGraph 도입 검토 (1단계는 직접 구현)</a:t>
            </a:r>
          </a:p>
        </p:txBody>
      </p:sp>
      <p:sp>
        <p:nvSpPr>
          <p:cNvPr id="40" name="Roadmap 1"/>
          <p:cNvSpPr/>
          <p:nvPr/>
        </p:nvSpPr>
        <p:spPr>
          <a:xfrm>
            <a:off x="731520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BBD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1단계 · RAG 질의응답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617720" y="9624059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admap 2"/>
          <p:cNvSpPr/>
          <p:nvPr/>
        </p:nvSpPr>
        <p:spPr>
          <a:xfrm>
            <a:off x="5059679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59679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2단계 · Agent 도구 선택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945880" y="9624059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admap 3"/>
          <p:cNvSpPr/>
          <p:nvPr/>
        </p:nvSpPr>
        <p:spPr>
          <a:xfrm>
            <a:off x="9387840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BBD4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87840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3단계 · 관계 탐색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3274040" y="9624059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admap 4"/>
          <p:cNvSpPr/>
          <p:nvPr/>
        </p:nvSpPr>
        <p:spPr>
          <a:xfrm>
            <a:off x="13715999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BBD4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5999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4단계 · 멀티모달 검색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280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HERITAGE-RAG-AGENT · 확장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417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관계 탐색: 유산 · 인물 · 사건 · 지역 잇기</a:t>
            </a:r>
          </a:p>
        </p:txBody>
      </p:sp>
      <p:sp>
        <p:nvSpPr>
          <p:cNvPr id="4" name="Stage pill"/>
          <p:cNvSpPr/>
          <p:nvPr/>
        </p:nvSpPr>
        <p:spPr>
          <a:xfrm>
            <a:off x="15179040" y="566928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ge pill text"/>
          <p:cNvSpPr txBox="1"/>
          <p:nvPr/>
        </p:nvSpPr>
        <p:spPr>
          <a:xfrm>
            <a:off x="15179040" y="566928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Band A"/>
          <p:cNvSpPr/>
          <p:nvPr/>
        </p:nvSpPr>
        <p:spPr>
          <a:xfrm>
            <a:off x="731520" y="1874519"/>
            <a:ext cx="168249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E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nd A title"/>
          <p:cNvSpPr txBox="1"/>
          <p:nvPr/>
        </p:nvSpPr>
        <p:spPr>
          <a:xfrm>
            <a:off x="1188720" y="2130552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준비 단계: 흩어진 자료에서 관계 뽑기</a:t>
            </a:r>
          </a:p>
        </p:txBody>
      </p:sp>
      <p:sp>
        <p:nvSpPr>
          <p:cNvPr id="8" name="Sources"/>
          <p:cNvSpPr/>
          <p:nvPr/>
        </p:nvSpPr>
        <p:spPr>
          <a:xfrm>
            <a:off x="1188720" y="278892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ources text"/>
          <p:cNvSpPr txBox="1"/>
          <p:nvPr/>
        </p:nvSpPr>
        <p:spPr>
          <a:xfrm>
            <a:off x="1298448" y="278892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원천 자료 4종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실록 기사 · 우리역사넷 한국사연대기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국가유산 API · 역사지리</a:t>
            </a:r>
          </a:p>
        </p:txBody>
      </p:sp>
      <p:sp>
        <p:nvSpPr>
          <p:cNvPr id="10" name="Extract"/>
          <p:cNvSpPr/>
          <p:nvPr/>
        </p:nvSpPr>
        <p:spPr>
          <a:xfrm>
            <a:off x="6858000" y="278892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xtract text"/>
          <p:cNvSpPr txBox="1"/>
          <p:nvPr/>
        </p:nvSpPr>
        <p:spPr>
          <a:xfrm>
            <a:off x="6967728" y="278892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관계 추출 (LLM)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문장에서 (인물 · 관계 · 유산) 뽑기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근거 문장도 같이 저장</a:t>
            </a:r>
          </a:p>
        </p:txBody>
      </p:sp>
      <p:sp>
        <p:nvSpPr>
          <p:cNvPr id="12" name="Store"/>
          <p:cNvSpPr/>
          <p:nvPr/>
        </p:nvSpPr>
        <p:spPr>
          <a:xfrm>
            <a:off x="12527280" y="278892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ore text"/>
          <p:cNvSpPr txBox="1"/>
          <p:nvPr/>
        </p:nvSpPr>
        <p:spPr>
          <a:xfrm>
            <a:off x="12637008" y="278892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관계 저장 (PostgreSQL)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노드 · 관계 · 근거 문장 테이블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(기존 DB에 테이블 추가)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3520439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0" y="3520439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and B"/>
          <p:cNvSpPr/>
          <p:nvPr/>
        </p:nvSpPr>
        <p:spPr>
          <a:xfrm>
            <a:off x="731520" y="4800600"/>
            <a:ext cx="168249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E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nd B title"/>
          <p:cNvSpPr txBox="1"/>
          <p:nvPr/>
        </p:nvSpPr>
        <p:spPr>
          <a:xfrm>
            <a:off x="1188720" y="5056632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질문 단계: 답변 + 관련 항목 + 관계 그래프</a:t>
            </a:r>
          </a:p>
        </p:txBody>
      </p:sp>
      <p:sp>
        <p:nvSpPr>
          <p:cNvPr id="18" name="Q3"/>
          <p:cNvSpPr/>
          <p:nvPr/>
        </p:nvSpPr>
        <p:spPr>
          <a:xfrm>
            <a:off x="1188720" y="571500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Q3 text"/>
          <p:cNvSpPr txBox="1"/>
          <p:nvPr/>
        </p:nvSpPr>
        <p:spPr>
          <a:xfrm>
            <a:off x="1298448" y="571500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사용자 질문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예: 세종과 이어진 유산은?</a:t>
            </a:r>
          </a:p>
        </p:txBody>
      </p:sp>
      <p:sp>
        <p:nvSpPr>
          <p:cNvPr id="20" name="RelSearch"/>
          <p:cNvSpPr/>
          <p:nvPr/>
        </p:nvSpPr>
        <p:spPr>
          <a:xfrm>
            <a:off x="6858000" y="571500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lSearch text"/>
          <p:cNvSpPr txBox="1"/>
          <p:nvPr/>
        </p:nvSpPr>
        <p:spPr>
          <a:xfrm>
            <a:off x="6967728" y="571500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관계 검색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연결된 노드를 1~2칸 따라가기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근거 문장 함께 가져오기</a:t>
            </a:r>
          </a:p>
        </p:txBody>
      </p:sp>
      <p:sp>
        <p:nvSpPr>
          <p:cNvPr id="22" name="Out3"/>
          <p:cNvSpPr/>
          <p:nvPr/>
        </p:nvSpPr>
        <p:spPr>
          <a:xfrm>
            <a:off x="12527280" y="571500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ut3 text"/>
          <p:cNvSpPr txBox="1"/>
          <p:nvPr/>
        </p:nvSpPr>
        <p:spPr>
          <a:xfrm>
            <a:off x="12637008" y="571500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답변 + 관계 그래프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관련 유산 · 인물 · 사건 · 지역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화면에 그래프로 표시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60720" y="6446520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430000" y="6446520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813280" y="4251960"/>
            <a:ext cx="0" cy="411480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144000" y="4663440"/>
            <a:ext cx="5669280" cy="0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4663440"/>
            <a:ext cx="0" cy="1033272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and C"/>
          <p:cNvSpPr/>
          <p:nvPr/>
        </p:nvSpPr>
        <p:spPr>
          <a:xfrm>
            <a:off x="731520" y="7680960"/>
            <a:ext cx="1682496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E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7882127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점(노드) 4종과 연결 예시</a:t>
            </a:r>
          </a:p>
        </p:txBody>
      </p:sp>
      <p:sp>
        <p:nvSpPr>
          <p:cNvPr id="31" name="Legend 문화유산"/>
          <p:cNvSpPr/>
          <p:nvPr/>
        </p:nvSpPr>
        <p:spPr>
          <a:xfrm>
            <a:off x="1188720" y="8412480"/>
            <a:ext cx="237744" cy="237744"/>
          </a:xfrm>
          <a:prstGeom prst="ellipse">
            <a:avLst/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17904" y="836676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문화유산</a:t>
            </a:r>
          </a:p>
        </p:txBody>
      </p:sp>
      <p:sp>
        <p:nvSpPr>
          <p:cNvPr id="33" name="Legend 인물"/>
          <p:cNvSpPr/>
          <p:nvPr/>
        </p:nvSpPr>
        <p:spPr>
          <a:xfrm>
            <a:off x="2788920" y="8412480"/>
            <a:ext cx="237744" cy="237744"/>
          </a:xfrm>
          <a:prstGeom prst="ellipse">
            <a:avLst/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18103" y="836676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인물</a:t>
            </a:r>
          </a:p>
        </p:txBody>
      </p:sp>
      <p:sp>
        <p:nvSpPr>
          <p:cNvPr id="35" name="Legend 사건"/>
          <p:cNvSpPr/>
          <p:nvPr/>
        </p:nvSpPr>
        <p:spPr>
          <a:xfrm>
            <a:off x="4389120" y="8412480"/>
            <a:ext cx="237744" cy="237744"/>
          </a:xfrm>
          <a:prstGeom prst="ellipse">
            <a:avLst/>
          </a:prstGeom>
          <a:solidFill>
            <a:srgbClr val="F2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836676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사건</a:t>
            </a:r>
          </a:p>
        </p:txBody>
      </p:sp>
      <p:sp>
        <p:nvSpPr>
          <p:cNvPr id="37" name="Legend 지역"/>
          <p:cNvSpPr/>
          <p:nvPr/>
        </p:nvSpPr>
        <p:spPr>
          <a:xfrm>
            <a:off x="5989320" y="8412480"/>
            <a:ext cx="237744" cy="237744"/>
          </a:xfrm>
          <a:prstGeom prst="ellipse">
            <a:avLst/>
          </a:prstGeom>
          <a:solidFill>
            <a:srgbClr val="CF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8504" y="836676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지역</a:t>
            </a:r>
          </a:p>
        </p:txBody>
      </p:sp>
      <p:sp>
        <p:nvSpPr>
          <p:cNvPr id="39" name="Graph 훈민정음"/>
          <p:cNvSpPr/>
          <p:nvPr/>
        </p:nvSpPr>
        <p:spPr>
          <a:xfrm>
            <a:off x="8595360" y="8183879"/>
            <a:ext cx="1417320" cy="603504"/>
          </a:xfrm>
          <a:prstGeom prst="ellipse">
            <a:avLst/>
          </a:prstGeom>
          <a:solidFill>
            <a:srgbClr val="F2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8183879"/>
            <a:ext cx="1417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훈민정음</a:t>
            </a:r>
          </a:p>
        </p:txBody>
      </p:sp>
      <p:sp>
        <p:nvSpPr>
          <p:cNvPr id="41" name="Graph 세종"/>
          <p:cNvSpPr/>
          <p:nvPr/>
        </p:nvSpPr>
        <p:spPr>
          <a:xfrm>
            <a:off x="10881360" y="8183879"/>
            <a:ext cx="1417320" cy="603504"/>
          </a:xfrm>
          <a:prstGeom prst="ellipse">
            <a:avLst/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81360" y="8183879"/>
            <a:ext cx="1417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세종</a:t>
            </a:r>
          </a:p>
        </p:txBody>
      </p:sp>
      <p:sp>
        <p:nvSpPr>
          <p:cNvPr id="43" name="Graph 영릉"/>
          <p:cNvSpPr/>
          <p:nvPr/>
        </p:nvSpPr>
        <p:spPr>
          <a:xfrm>
            <a:off x="13167360" y="8183879"/>
            <a:ext cx="1417320" cy="603504"/>
          </a:xfrm>
          <a:prstGeom prst="ellipse">
            <a:avLst/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167360" y="8183879"/>
            <a:ext cx="1417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영릉</a:t>
            </a:r>
          </a:p>
        </p:txBody>
      </p:sp>
      <p:sp>
        <p:nvSpPr>
          <p:cNvPr id="45" name="Graph 여주"/>
          <p:cNvSpPr/>
          <p:nvPr/>
        </p:nvSpPr>
        <p:spPr>
          <a:xfrm>
            <a:off x="15453359" y="8183879"/>
            <a:ext cx="1417320" cy="603504"/>
          </a:xfrm>
          <a:prstGeom prst="ellipse">
            <a:avLst/>
          </a:prstGeom>
          <a:solidFill>
            <a:srgbClr val="CF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453359" y="8183879"/>
            <a:ext cx="1417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여주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10030968" y="8485632"/>
            <a:ext cx="832104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012680" y="7836407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창제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2316967" y="8485632"/>
            <a:ext cx="832105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2298680" y="7836407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묻힘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4602968" y="8485632"/>
            <a:ext cx="832104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4584680" y="7836407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위치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885139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※ 위 연결은 이해를 돕는 예시이고, 실제 관계는 근거 문장을 확인해 저장해요</a:t>
            </a:r>
          </a:p>
        </p:txBody>
      </p:sp>
      <p:sp>
        <p:nvSpPr>
          <p:cNvPr id="54" name="Roadmap 1"/>
          <p:cNvSpPr/>
          <p:nvPr/>
        </p:nvSpPr>
        <p:spPr>
          <a:xfrm>
            <a:off x="731520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BBD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1단계 · RAG 질의응답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617720" y="9624059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admap 2"/>
          <p:cNvSpPr/>
          <p:nvPr/>
        </p:nvSpPr>
        <p:spPr>
          <a:xfrm>
            <a:off x="5059679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BBD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59679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2단계 · Agent 도구 선택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945880" y="9624059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admap 3"/>
          <p:cNvSpPr/>
          <p:nvPr/>
        </p:nvSpPr>
        <p:spPr>
          <a:xfrm>
            <a:off x="9387840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87840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3단계 · 관계 탐색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3274040" y="9624059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admap 4"/>
          <p:cNvSpPr/>
          <p:nvPr/>
        </p:nvSpPr>
        <p:spPr>
          <a:xfrm>
            <a:off x="13715999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BBD4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5999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4단계 · 멀티모달 검색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280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HERITAGE-RAG-AGENT · 확장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417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멀티모달: 사진으로 유산 찾기</a:t>
            </a:r>
          </a:p>
        </p:txBody>
      </p:sp>
      <p:sp>
        <p:nvSpPr>
          <p:cNvPr id="4" name="Stage pill"/>
          <p:cNvSpPr/>
          <p:nvPr/>
        </p:nvSpPr>
        <p:spPr>
          <a:xfrm>
            <a:off x="15179040" y="566928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ge pill text"/>
          <p:cNvSpPr txBox="1"/>
          <p:nvPr/>
        </p:nvSpPr>
        <p:spPr>
          <a:xfrm>
            <a:off x="15179040" y="566928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Band A"/>
          <p:cNvSpPr/>
          <p:nvPr/>
        </p:nvSpPr>
        <p:spPr>
          <a:xfrm>
            <a:off x="731520" y="1874519"/>
            <a:ext cx="168249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E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nd A title"/>
          <p:cNvSpPr txBox="1"/>
          <p:nvPr/>
        </p:nvSpPr>
        <p:spPr>
          <a:xfrm>
            <a:off x="1188720" y="2130552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준비 단계: 사진도 검색할 수 있게 만들기</a:t>
            </a:r>
          </a:p>
        </p:txBody>
      </p:sp>
      <p:sp>
        <p:nvSpPr>
          <p:cNvPr id="8" name="Images"/>
          <p:cNvSpPr/>
          <p:nvPr/>
        </p:nvSpPr>
        <p:spPr>
          <a:xfrm>
            <a:off x="1188720" y="278892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mages text"/>
          <p:cNvSpPr txBox="1"/>
          <p:nvPr/>
        </p:nvSpPr>
        <p:spPr>
          <a:xfrm>
            <a:off x="1298448" y="278892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대표 이미지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국가유산 API 응답의 img_url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(이미 수집 데이터에 포함)</a:t>
            </a:r>
          </a:p>
        </p:txBody>
      </p:sp>
      <p:sp>
        <p:nvSpPr>
          <p:cNvPr id="10" name="ImgEmbed"/>
          <p:cNvSpPr/>
          <p:nvPr/>
        </p:nvSpPr>
        <p:spPr>
          <a:xfrm>
            <a:off x="6858000" y="278892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mgEmbed text"/>
          <p:cNvSpPr txBox="1"/>
          <p:nvPr/>
        </p:nvSpPr>
        <p:spPr>
          <a:xfrm>
            <a:off x="6967728" y="278892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이미지 임베딩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멀티모달 모델로 숫자(벡터) 변환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글과 같은 공간에 놓기</a:t>
            </a:r>
          </a:p>
        </p:txBody>
      </p:sp>
      <p:sp>
        <p:nvSpPr>
          <p:cNvPr id="12" name="ImgStore"/>
          <p:cNvSpPr/>
          <p:nvPr/>
        </p:nvSpPr>
        <p:spPr>
          <a:xfrm>
            <a:off x="12527280" y="278892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mgStore text"/>
          <p:cNvSpPr txBox="1"/>
          <p:nvPr/>
        </p:nvSpPr>
        <p:spPr>
          <a:xfrm>
            <a:off x="12637008" y="278892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벡터 DB에 저장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이미지 벡터 추가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유산 정보와 같은 항목에 연결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3520439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0" y="3520439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and B"/>
          <p:cNvSpPr/>
          <p:nvPr/>
        </p:nvSpPr>
        <p:spPr>
          <a:xfrm>
            <a:off x="731520" y="4800600"/>
            <a:ext cx="168249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E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nd B title"/>
          <p:cNvSpPr txBox="1"/>
          <p:nvPr/>
        </p:nvSpPr>
        <p:spPr>
          <a:xfrm>
            <a:off x="1188720" y="5056632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질문 단계: 사진으로 묻기</a:t>
            </a:r>
          </a:p>
        </p:txBody>
      </p:sp>
      <p:sp>
        <p:nvSpPr>
          <p:cNvPr id="18" name="Photo"/>
          <p:cNvSpPr/>
          <p:nvPr/>
        </p:nvSpPr>
        <p:spPr>
          <a:xfrm>
            <a:off x="1188720" y="571500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hoto text"/>
          <p:cNvSpPr txBox="1"/>
          <p:nvPr/>
        </p:nvSpPr>
        <p:spPr>
          <a:xfrm>
            <a:off x="1298448" y="571500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사진 올리기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예: 근정전 사진 한 장</a:t>
            </a:r>
          </a:p>
        </p:txBody>
      </p:sp>
      <p:sp>
        <p:nvSpPr>
          <p:cNvPr id="20" name="ImgSearch"/>
          <p:cNvSpPr/>
          <p:nvPr/>
        </p:nvSpPr>
        <p:spPr>
          <a:xfrm>
            <a:off x="6858000" y="571500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mgSearch text"/>
          <p:cNvSpPr txBox="1"/>
          <p:nvPr/>
        </p:nvSpPr>
        <p:spPr>
          <a:xfrm>
            <a:off x="6967728" y="571500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비슷한 이미지 검색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벡터 DB에서 가장 닮은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이미지와 유산 찾기</a:t>
            </a:r>
          </a:p>
        </p:txBody>
      </p:sp>
      <p:sp>
        <p:nvSpPr>
          <p:cNvPr id="22" name="Result4"/>
          <p:cNvSpPr/>
          <p:nvPr/>
        </p:nvSpPr>
        <p:spPr>
          <a:xfrm>
            <a:off x="12527280" y="571500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ECD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sult4 text"/>
          <p:cNvSpPr txBox="1"/>
          <p:nvPr/>
        </p:nvSpPr>
        <p:spPr>
          <a:xfrm>
            <a:off x="12637008" y="5715000"/>
            <a:ext cx="4352544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결과 화면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유산 이름 · 설명 · 관련 인물</a:t>
            </a:r>
          </a:p>
          <a:p>
            <a:pPr algn="ctr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지도 위 위치 표시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60720" y="6446520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430000" y="6446520"/>
            <a:ext cx="1078992" cy="0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813280" y="4251960"/>
            <a:ext cx="0" cy="411480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144000" y="4663440"/>
            <a:ext cx="5669280" cy="0"/>
          </a:xfrm>
          <a:prstGeom prst="line">
            <a:avLst/>
          </a:prstGeom>
          <a:ln w="28575">
            <a:solidFill>
              <a:srgbClr val="5C6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4663440"/>
            <a:ext cx="0" cy="1033272"/>
          </a:xfrm>
          <a:prstGeom prst="line">
            <a:avLst/>
          </a:prstGeom>
          <a:ln w="28575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and C"/>
          <p:cNvSpPr/>
          <p:nvPr/>
        </p:nvSpPr>
        <p:spPr>
          <a:xfrm>
            <a:off x="731520" y="7680960"/>
            <a:ext cx="1682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CE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xtra 1"/>
          <p:cNvSpPr/>
          <p:nvPr/>
        </p:nvSpPr>
        <p:spPr>
          <a:xfrm>
            <a:off x="1188720" y="7909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xtra text 1"/>
          <p:cNvSpPr txBox="1"/>
          <p:nvPr/>
        </p:nvSpPr>
        <p:spPr>
          <a:xfrm>
            <a:off x="1463040" y="7909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지도 표시</a:t>
            </a:r>
          </a:p>
          <a:p>
            <a:pPr algn="l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소재지 경위도를 이미 수집했어요</a:t>
            </a:r>
          </a:p>
        </p:txBody>
      </p:sp>
      <p:sp>
        <p:nvSpPr>
          <p:cNvPr id="32" name="Extra 2"/>
          <p:cNvSpPr/>
          <p:nvPr/>
        </p:nvSpPr>
        <p:spPr>
          <a:xfrm>
            <a:off x="6583679" y="7909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587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xtra text 2"/>
          <p:cNvSpPr txBox="1"/>
          <p:nvPr/>
        </p:nvSpPr>
        <p:spPr>
          <a:xfrm>
            <a:off x="6857999" y="7909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글 · 관계와 연결</a:t>
            </a:r>
          </a:p>
          <a:p>
            <a:pPr algn="l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찾은 유산의 설명과 관계 그래프도 함께</a:t>
            </a:r>
          </a:p>
        </p:txBody>
      </p:sp>
      <p:sp>
        <p:nvSpPr>
          <p:cNvPr id="34" name="Extra 3"/>
          <p:cNvSpPr/>
          <p:nvPr/>
        </p:nvSpPr>
        <p:spPr>
          <a:xfrm>
            <a:off x="11978640" y="7909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5C61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xtra text 3"/>
          <p:cNvSpPr txBox="1"/>
          <p:nvPr/>
        </p:nvSpPr>
        <p:spPr>
          <a:xfrm>
            <a:off x="12252960" y="7909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확인 필요</a:t>
            </a:r>
          </a:p>
          <a:p>
            <a:pPr algn="l">
              <a:spcBef>
                <a:spcPts val="400"/>
              </a:spcBef>
            </a:pPr>
            <a:r>
              <a:rPr sz="1450" b="0">
                <a:solidFill>
                  <a:srgbClr val="5C6166"/>
                </a:solidFill>
                <a:latin typeface="Pretendard"/>
                <a:ea typeface="Pretendard"/>
                <a:cs typeface="Pretendard"/>
              </a:rPr>
              <a:t>멀티모달 모델 선택 · 이미지 이용 조건</a:t>
            </a:r>
          </a:p>
        </p:txBody>
      </p:sp>
      <p:sp>
        <p:nvSpPr>
          <p:cNvPr id="36" name="Roadmap 1"/>
          <p:cNvSpPr/>
          <p:nvPr/>
        </p:nvSpPr>
        <p:spPr>
          <a:xfrm>
            <a:off x="731520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BBD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1단계 · RAG 질의응답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17720" y="9624059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admap 2"/>
          <p:cNvSpPr/>
          <p:nvPr/>
        </p:nvSpPr>
        <p:spPr>
          <a:xfrm>
            <a:off x="5059679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BBD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9679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2단계 · Agent 도구 선택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45880" y="9624059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admap 3"/>
          <p:cNvSpPr/>
          <p:nvPr/>
        </p:nvSpPr>
        <p:spPr>
          <a:xfrm>
            <a:off x="9387840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BBD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87840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3단계 · 관계 탐색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3274040" y="9624059"/>
            <a:ext cx="377951" cy="0"/>
          </a:xfrm>
          <a:prstGeom prst="line">
            <a:avLst/>
          </a:prstGeom>
          <a:ln w="25400">
            <a:solidFill>
              <a:srgbClr val="5C61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admap 4"/>
          <p:cNvSpPr/>
          <p:nvPr/>
        </p:nvSpPr>
        <p:spPr>
          <a:xfrm>
            <a:off x="13715999" y="9326880"/>
            <a:ext cx="3840480" cy="594360"/>
          </a:xfrm>
          <a:prstGeom prst="roundRect">
            <a:avLst>
              <a:gd name="adj" fmla="val 30000"/>
            </a:avLst>
          </a:prstGeom>
          <a:solidFill>
            <a:srgbClr val="BB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5999" y="9326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4단계 · 멀티모달 검색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2026-10-03T08:54:42Z</dcterms:created>
  <dcterms:modified xsi:type="dcterms:W3CDTF">2026-10-03T08:54:42Z</dcterms:modified>
</cp:coreProperties>
</file>