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 autoCompressPictures="0">
  <p:sldMasterIdLst>
    <p:sldMasterId id="2147483659" r:id="rId1"/>
  </p:sldMasterIdLst>
  <p:notesMasterIdLst>
    <p:notesMasterId r:id="rId2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2801601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HERITAGE-RAG-AGENT · 시스템 아키텍처 (1단계)</a:t>
            </a:r>
            <a:endParaRPr sz="1700" b="1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6459200" cy="608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4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조선 왕릉·궁궐 문화유산 RAG 아키텍처</a:t>
            </a:r>
            <a:endParaRPr sz="40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938528"/>
            <a:ext cx="4389120" cy="223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STEP 1 · 데이터 수집</a:t>
            </a:r>
            <a:endParaRPr sz="1500" b="1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0" y="1938528"/>
            <a:ext cx="4114800" cy="223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STEP 2 · </a:t>
            </a:r>
            <a:r>
              <a:rPr lang="ko-KR" altLang="en-US" sz="15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전처리</a:t>
            </a:r>
            <a:r>
              <a:rPr sz="15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 · 임베딩 · 저장</a:t>
            </a:r>
            <a:endParaRPr sz="1500" b="1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1938528"/>
            <a:ext cx="6675120" cy="223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STEP 3 · 질문 응답 (RAG)</a:t>
            </a:r>
            <a:endParaRPr sz="1500" b="1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ource 1"/>
          <p:cNvSpPr/>
          <p:nvPr/>
        </p:nvSpPr>
        <p:spPr>
          <a:xfrm>
            <a:off x="731520" y="2423160"/>
            <a:ext cx="4389120" cy="132588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Dot 1"/>
          <p:cNvSpPr/>
          <p:nvPr/>
        </p:nvSpPr>
        <p:spPr>
          <a:xfrm>
            <a:off x="1051560" y="2985516"/>
            <a:ext cx="201168" cy="201168"/>
          </a:xfrm>
          <a:prstGeom prst="ellipse">
            <a:avLst/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Source title 1"/>
          <p:cNvSpPr txBox="1"/>
          <p:nvPr/>
        </p:nvSpPr>
        <p:spPr>
          <a:xfrm>
            <a:off x="1508760" y="2606040"/>
            <a:ext cx="3474720" cy="318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궁궐·종묘 API</a:t>
            </a:r>
            <a:endParaRPr sz="21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ource a 1"/>
          <p:cNvSpPr txBox="1"/>
          <p:nvPr/>
        </p:nvSpPr>
        <p:spPr>
          <a:xfrm>
            <a:off x="1508760" y="3044952"/>
            <a:ext cx="3474720" cy="241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heritage.go.kr · XML 응답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ource b 1"/>
          <p:cNvSpPr txBox="1"/>
          <p:nvPr/>
        </p:nvSpPr>
        <p:spPr>
          <a:xfrm>
            <a:off x="1508760" y="3328415"/>
            <a:ext cx="3474720" cy="243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건물·시설 127건 · 수집 완료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ource 2"/>
          <p:cNvSpPr/>
          <p:nvPr/>
        </p:nvSpPr>
        <p:spPr>
          <a:xfrm>
            <a:off x="731520" y="3962399"/>
            <a:ext cx="4389120" cy="132588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Dot 2"/>
          <p:cNvSpPr/>
          <p:nvPr/>
        </p:nvSpPr>
        <p:spPr>
          <a:xfrm>
            <a:off x="1051560" y="4524755"/>
            <a:ext cx="201168" cy="201168"/>
          </a:xfrm>
          <a:prstGeom prst="ellipse">
            <a:avLst/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Source title 2"/>
          <p:cNvSpPr txBox="1"/>
          <p:nvPr/>
        </p:nvSpPr>
        <p:spPr>
          <a:xfrm>
            <a:off x="1508760" y="4145280"/>
            <a:ext cx="3474720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국가유산 종합 API</a:t>
            </a:r>
            <a:endParaRPr sz="21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ource a 2"/>
          <p:cNvSpPr txBox="1"/>
          <p:nvPr/>
        </p:nvSpPr>
        <p:spPr>
          <a:xfrm>
            <a:off x="1508760" y="4584191"/>
            <a:ext cx="3474720" cy="24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khs.go.kr · 인증키 없이 호출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ource b 2"/>
          <p:cNvSpPr txBox="1"/>
          <p:nvPr/>
        </p:nvSpPr>
        <p:spPr>
          <a:xfrm>
            <a:off x="1508760" y="4867656"/>
            <a:ext cx="3474720" cy="247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왕릉·개요 24건 + 약 75건 추가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ource 3"/>
          <p:cNvSpPr/>
          <p:nvPr/>
        </p:nvSpPr>
        <p:spPr>
          <a:xfrm>
            <a:off x="731520" y="5501640"/>
            <a:ext cx="4389120" cy="132588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Dot 3"/>
          <p:cNvSpPr/>
          <p:nvPr/>
        </p:nvSpPr>
        <p:spPr>
          <a:xfrm>
            <a:off x="1051560" y="6063995"/>
            <a:ext cx="201168" cy="201168"/>
          </a:xfrm>
          <a:prstGeom prst="ellipse">
            <a:avLst/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Source title 3"/>
          <p:cNvSpPr txBox="1"/>
          <p:nvPr/>
        </p:nvSpPr>
        <p:spPr>
          <a:xfrm>
            <a:off x="1508760" y="5684520"/>
            <a:ext cx="3474720" cy="316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우리역사넷</a:t>
            </a:r>
            <a:endParaRPr sz="21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ource a 3"/>
          <p:cNvSpPr txBox="1"/>
          <p:nvPr/>
        </p:nvSpPr>
        <p:spPr>
          <a:xfrm>
            <a:off x="1508760" y="6123432"/>
            <a:ext cx="3474720" cy="2106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인물·사건 (확인 필요)</a:t>
            </a:r>
            <a:endParaRPr sz="145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ource b 3"/>
          <p:cNvSpPr txBox="1"/>
          <p:nvPr/>
        </p:nvSpPr>
        <p:spPr>
          <a:xfrm>
            <a:off x="1508760" y="6406896"/>
            <a:ext cx="3474720" cy="241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3단계 관계 탐색용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ource 4"/>
          <p:cNvSpPr/>
          <p:nvPr/>
        </p:nvSpPr>
        <p:spPr>
          <a:xfrm>
            <a:off x="731520" y="7040879"/>
            <a:ext cx="4389120" cy="132588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Dot 4"/>
          <p:cNvSpPr/>
          <p:nvPr/>
        </p:nvSpPr>
        <p:spPr>
          <a:xfrm>
            <a:off x="1051560" y="7603236"/>
            <a:ext cx="201168" cy="201168"/>
          </a:xfrm>
          <a:prstGeom prst="ellipse">
            <a:avLst/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Source title 4"/>
          <p:cNvSpPr txBox="1"/>
          <p:nvPr/>
        </p:nvSpPr>
        <p:spPr>
          <a:xfrm>
            <a:off x="1508760" y="7223759"/>
            <a:ext cx="3474720" cy="32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실록·백과 원문</a:t>
            </a:r>
            <a:endParaRPr sz="21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ource a 4"/>
          <p:cNvSpPr txBox="1"/>
          <p:nvPr/>
        </p:nvSpPr>
        <p:spPr>
          <a:xfrm>
            <a:off x="1508760" y="7662671"/>
            <a:ext cx="3474720" cy="243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수집 방식 미확정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ource b 4"/>
          <p:cNvSpPr txBox="1"/>
          <p:nvPr/>
        </p:nvSpPr>
        <p:spPr>
          <a:xfrm>
            <a:off x="1508760" y="7946136"/>
            <a:ext cx="3474720" cy="245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3단계 관계 탐색용 원문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3086100"/>
            <a:ext cx="411480" cy="0"/>
          </a:xfrm>
          <a:prstGeom prst="line">
            <a:avLst/>
          </a:prstGeom>
          <a:ln w="25400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20640" y="4625339"/>
            <a:ext cx="411480" cy="0"/>
          </a:xfrm>
          <a:prstGeom prst="line">
            <a:avLst/>
          </a:prstGeom>
          <a:ln w="25400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20640" y="6164580"/>
            <a:ext cx="411480" cy="0"/>
          </a:xfrm>
          <a:prstGeom prst="line">
            <a:avLst/>
          </a:prstGeom>
          <a:ln w="25400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20640" y="7703819"/>
            <a:ext cx="411480" cy="0"/>
          </a:xfrm>
          <a:prstGeom prst="line">
            <a:avLst/>
          </a:prstGeom>
          <a:ln w="25400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32120" y="3086100"/>
            <a:ext cx="0" cy="4617719"/>
          </a:xfrm>
          <a:prstGeom prst="line">
            <a:avLst/>
          </a:prstGeom>
          <a:ln w="25400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32120" y="3086100"/>
            <a:ext cx="3931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tep clean"/>
          <p:cNvSpPr/>
          <p:nvPr/>
        </p:nvSpPr>
        <p:spPr>
          <a:xfrm>
            <a:off x="5943600" y="2423160"/>
            <a:ext cx="4114800" cy="132588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263640" y="2606040"/>
            <a:ext cx="3566160" cy="318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ko-KR" altLang="en-US"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전처리</a:t>
            </a:r>
            <a:endParaRPr lang="ko-KR" altLang="en-US" sz="21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63640" y="3044952"/>
            <a:ext cx="3566160" cy="241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HTML 태그(&lt;br/&gt;) 제거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63640" y="3328415"/>
            <a:ext cx="3566160" cy="243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RAG용 본문 document_text 생성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tep embed"/>
          <p:cNvSpPr/>
          <p:nvPr/>
        </p:nvSpPr>
        <p:spPr>
          <a:xfrm>
            <a:off x="5924550" y="4070983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263640" y="4160520"/>
            <a:ext cx="3566160" cy="316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임베딩</a:t>
            </a:r>
            <a:endParaRPr sz="21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63640" y="4590288"/>
            <a:ext cx="3566160" cy="238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Gemini gemini-embedding-001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63640" y="4828031"/>
            <a:ext cx="3566160" cy="477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768차원 · 문서용 RETRIEVAL_DOCUMENT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42" name="Connector 41"/>
          <p:cNvCxnSpPr>
            <a:endCxn id="43" idx="0"/>
          </p:cNvCxnSpPr>
          <p:nvPr/>
        </p:nvCxnSpPr>
        <p:spPr>
          <a:xfrm rot="16200000" flipH="1">
            <a:off x="7749540" y="5591175"/>
            <a:ext cx="502920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B"/>
          <p:cNvSpPr/>
          <p:nvPr/>
        </p:nvSpPr>
        <p:spPr>
          <a:xfrm>
            <a:off x="5943600" y="5842635"/>
            <a:ext cx="4114800" cy="2524124"/>
          </a:xfrm>
          <a:prstGeom prst="roundRect">
            <a:avLst>
              <a:gd name="adj" fmla="val 6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4" name="DB title"/>
          <p:cNvSpPr txBox="1"/>
          <p:nvPr/>
        </p:nvSpPr>
        <p:spPr>
          <a:xfrm>
            <a:off x="5943600" y="6119240"/>
            <a:ext cx="4114800" cy="424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DB (PostgreSQL)</a:t>
            </a:r>
            <a:r>
              <a:rPr lang="ko-KR" altLang="en-US" sz="2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저장</a:t>
            </a:r>
            <a:endParaRPr sz="24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DB detail"/>
          <p:cNvSpPr txBox="1"/>
          <p:nvPr/>
        </p:nvSpPr>
        <p:spPr>
          <a:xfrm>
            <a:off x="6309360" y="6903719"/>
            <a:ext cx="3520440" cy="878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pgvector 확장 · heritage_chunks 테이블</a:t>
            </a:r>
            <a:endParaRPr sz="1600" b="0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600"/>
              </a:spcBef>
              <a:defRPr/>
            </a:pPr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벡터 768차원 + 원본 정보(출처·이미지 주소)</a:t>
            </a:r>
            <a:endParaRPr sz="1600" b="0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600"/>
              </a:spcBef>
              <a:defRPr/>
            </a:pPr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코사인 유사도로 비슷한 문서 검색</a:t>
            </a:r>
            <a:endParaRPr sz="1600" b="0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RAG container"/>
          <p:cNvSpPr/>
          <p:nvPr/>
        </p:nvSpPr>
        <p:spPr>
          <a:xfrm>
            <a:off x="10881360" y="2423160"/>
            <a:ext cx="6675120" cy="470916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11155680" y="2651760"/>
            <a:ext cx="2743200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RAG 챗봇</a:t>
            </a:r>
            <a:endParaRPr sz="2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624560" y="2724912"/>
            <a:ext cx="3657600" cy="218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FastAPI · POST /api/ask</a:t>
            </a:r>
            <a:endParaRPr sz="145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Q"/>
          <p:cNvSpPr/>
          <p:nvPr/>
        </p:nvSpPr>
        <p:spPr>
          <a:xfrm>
            <a:off x="11155680" y="3337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Q text"/>
          <p:cNvSpPr txBox="1"/>
          <p:nvPr/>
        </p:nvSpPr>
        <p:spPr>
          <a:xfrm>
            <a:off x="11228832" y="3638550"/>
            <a:ext cx="1682496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 질문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5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React + TS 화면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에서 입력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QEmbed"/>
          <p:cNvSpPr/>
          <p:nvPr/>
        </p:nvSpPr>
        <p:spPr>
          <a:xfrm>
            <a:off x="13304520" y="3337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QEmbed text"/>
          <p:cNvSpPr txBox="1"/>
          <p:nvPr/>
        </p:nvSpPr>
        <p:spPr>
          <a:xfrm>
            <a:off x="13377672" y="3638550"/>
            <a:ext cx="1682496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질문 임베딩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5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질문용 벡터 변환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(768차원)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Answer"/>
          <p:cNvSpPr/>
          <p:nvPr/>
        </p:nvSpPr>
        <p:spPr>
          <a:xfrm>
            <a:off x="15453360" y="3337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4" name="Answer text"/>
          <p:cNvSpPr txBox="1"/>
          <p:nvPr/>
        </p:nvSpPr>
        <p:spPr>
          <a:xfrm>
            <a:off x="15526512" y="3514725"/>
            <a:ext cx="1682496" cy="1114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답변 + 출처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5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근거 문서를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출처 카드로 표시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Retriever"/>
          <p:cNvSpPr/>
          <p:nvPr/>
        </p:nvSpPr>
        <p:spPr>
          <a:xfrm>
            <a:off x="11155680" y="530352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6" name="Retriever text"/>
          <p:cNvSpPr txBox="1"/>
          <p:nvPr/>
        </p:nvSpPr>
        <p:spPr>
          <a:xfrm>
            <a:off x="11228832" y="5600700"/>
            <a:ext cx="1682496" cy="838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리트리버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5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유사도 상위 5개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문서 검색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Prompt"/>
          <p:cNvSpPr/>
          <p:nvPr/>
        </p:nvSpPr>
        <p:spPr>
          <a:xfrm>
            <a:off x="13304520" y="530352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8" name="Prompt text"/>
          <p:cNvSpPr txBox="1"/>
          <p:nvPr/>
        </p:nvSpPr>
        <p:spPr>
          <a:xfrm>
            <a:off x="13377672" y="5486400"/>
            <a:ext cx="1682496" cy="1076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프롬프트 구성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5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참고자료 + 답변 규칙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(자료 밖은 거절)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LLM"/>
          <p:cNvSpPr/>
          <p:nvPr/>
        </p:nvSpPr>
        <p:spPr>
          <a:xfrm>
            <a:off x="15453360" y="530352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0" name="LLM text"/>
          <p:cNvSpPr txBox="1"/>
          <p:nvPr/>
        </p:nvSpPr>
        <p:spPr>
          <a:xfrm>
            <a:off x="15526512" y="5600700"/>
            <a:ext cx="1682496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LLM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5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Gemini Flash-Lite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3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계열 (예비 모델)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2984480" y="4023360"/>
            <a:ext cx="30175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4218920" y="4709160"/>
            <a:ext cx="0" cy="292608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2070080" y="5001768"/>
            <a:ext cx="214884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070080" y="5001768"/>
            <a:ext cx="0" cy="283464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984480" y="5989320"/>
            <a:ext cx="30175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5133320" y="5989320"/>
            <a:ext cx="30175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6367760" y="4727448"/>
            <a:ext cx="0" cy="576072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1155680" y="6784848"/>
            <a:ext cx="6126480" cy="244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DB에서 찾은 문서만 근거로 답하도록 제한</a:t>
            </a:r>
            <a:endParaRPr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14218920" y="7132320"/>
            <a:ext cx="0" cy="320040"/>
          </a:xfrm>
          <a:prstGeom prst="line">
            <a:avLst/>
          </a:prstGeom>
          <a:ln w="25400">
            <a:solidFill>
              <a:srgbClr val="5c61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lation search"/>
          <p:cNvSpPr/>
          <p:nvPr/>
        </p:nvSpPr>
        <p:spPr>
          <a:xfrm>
            <a:off x="10881360" y="7452360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3" name="Relation text"/>
          <p:cNvSpPr txBox="1"/>
          <p:nvPr/>
        </p:nvSpPr>
        <p:spPr>
          <a:xfrm>
            <a:off x="10881360" y="7686674"/>
            <a:ext cx="667512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관계 검색 (3단계 확장)</a:t>
            </a:r>
            <a:endParaRPr sz="16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algn="ctr">
              <a:spcBef>
                <a:spcPts val="400"/>
              </a:spcBef>
              <a:defRPr/>
            </a:pPr>
            <a:r>
              <a:rPr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유산 ↔ 인물·사건·지역 연결 → 관련 유산·관계</a:t>
            </a:r>
            <a:r>
              <a:rPr lang="ko-KR" altLang="en-US" sz="16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 그래프 제공</a:t>
            </a:r>
            <a:endParaRPr lang="ko-KR" altLang="en-US" sz="16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Roadmap 1"/>
          <p:cNvSpPr/>
          <p:nvPr/>
        </p:nvSpPr>
        <p:spPr>
          <a:xfrm>
            <a:off x="731520" y="8823960"/>
            <a:ext cx="3840480" cy="685800"/>
          </a:xfrm>
          <a:prstGeom prst="roundRect">
            <a:avLst>
              <a:gd name="adj" fmla="val 30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5" name="Roadmap text 1"/>
          <p:cNvSpPr txBox="1"/>
          <p:nvPr/>
        </p:nvSpPr>
        <p:spPr>
          <a:xfrm>
            <a:off x="731520" y="9039225"/>
            <a:ext cx="384048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1단계 · RAG 질의응답</a:t>
            </a:r>
            <a:endParaRPr sz="17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4617720" y="9166860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admap 2"/>
          <p:cNvSpPr/>
          <p:nvPr/>
        </p:nvSpPr>
        <p:spPr>
          <a:xfrm>
            <a:off x="5059679" y="8823960"/>
            <a:ext cx="384048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8" name="Roadmap text 2"/>
          <p:cNvSpPr txBox="1"/>
          <p:nvPr/>
        </p:nvSpPr>
        <p:spPr>
          <a:xfrm>
            <a:off x="5059679" y="9039225"/>
            <a:ext cx="384048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2단계 · Agent 도구 선택</a:t>
            </a:r>
            <a:endParaRPr sz="17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8945880" y="9166860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admap 3"/>
          <p:cNvSpPr/>
          <p:nvPr/>
        </p:nvSpPr>
        <p:spPr>
          <a:xfrm>
            <a:off x="9387840" y="8823960"/>
            <a:ext cx="384048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1" name="Roadmap text 3"/>
          <p:cNvSpPr txBox="1"/>
          <p:nvPr/>
        </p:nvSpPr>
        <p:spPr>
          <a:xfrm>
            <a:off x="9387840" y="9039225"/>
            <a:ext cx="384048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3단계 · 관계 탐색</a:t>
            </a:r>
            <a:endParaRPr sz="17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13274040" y="9166860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admap 4"/>
          <p:cNvSpPr/>
          <p:nvPr/>
        </p:nvSpPr>
        <p:spPr>
          <a:xfrm>
            <a:off x="13715999" y="8823960"/>
            <a:ext cx="384048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4" name="Roadmap text 4"/>
          <p:cNvSpPr txBox="1"/>
          <p:nvPr/>
        </p:nvSpPr>
        <p:spPr>
          <a:xfrm>
            <a:off x="13715999" y="9039225"/>
            <a:ext cx="384048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4단계 · 멀티모달 검색</a:t>
            </a:r>
            <a:endParaRPr sz="1700" b="1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731520" y="9765792"/>
            <a:ext cx="182880" cy="182880"/>
          </a:xfrm>
          <a:prstGeom prst="ellipse">
            <a:avLst/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1051560" y="9692640"/>
            <a:ext cx="237744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수집·구현 진행</a:t>
            </a:r>
            <a:endParaRPr sz="15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566160" y="9765792"/>
            <a:ext cx="182880" cy="182880"/>
          </a:xfrm>
          <a:prstGeom prst="ellipse">
            <a:avLst/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3886200" y="9692640"/>
            <a:ext cx="27432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확인·결정 필요</a:t>
            </a:r>
            <a:endParaRPr sz="15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766560" y="9692640"/>
            <a:ext cx="292608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점선 = 이후 단계(예정)</a:t>
            </a:r>
            <a:endParaRPr sz="1500" b="0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1887200" y="9692640"/>
            <a:ext cx="566928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17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heritage-rag-agent</a:t>
            </a:r>
            <a:endParaRPr sz="1700" b="1">
              <a:solidFill>
                <a:srgbClr val="5c616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91" name="Connector 41"/>
          <p:cNvCxnSpPr/>
          <p:nvPr/>
        </p:nvCxnSpPr>
        <p:spPr>
          <a:xfrm rot="16200000" flipH="1">
            <a:off x="7730490" y="3962399"/>
            <a:ext cx="502920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60"/>
          <p:cNvCxnSpPr/>
          <p:nvPr/>
        </p:nvCxnSpPr>
        <p:spPr>
          <a:xfrm>
            <a:off x="10058400" y="6334125"/>
            <a:ext cx="1015094" cy="2668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</ep:Words>
  <ep:PresentationFormat>On-screen Show (16:9)</ep:PresentationFormat>
  <ep:Paragraphs>0</ep:Paragraphs>
  <ep:Slides>1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Theme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2026-10-03T08:54:42.000</dcterms:created>
  <dc:creator>PptxGenJS</dc:creator>
  <cp:lastModifiedBy>ji_ye</cp:lastModifiedBy>
  <dcterms:modified xsi:type="dcterms:W3CDTF">2026-10-03T11:44:52.332</dcterms:modified>
  <cp:revision>11</cp:revision>
  <dc:subject>PptxGenJS Presentation</dc:subject>
  <dc:title>PptxGenJS Presentation</dc:title>
  <cp:version>1000.0000.01</cp:version>
</cp:coreProperties>
</file>